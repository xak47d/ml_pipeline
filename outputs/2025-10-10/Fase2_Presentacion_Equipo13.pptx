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0"/>
  </p:notesMasterIdLst>
  <p:sldIdLst>
    <p:sldId id="263" r:id="rId2"/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108" y="6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6F635B-282C-4BE5-B77C-494BECF0CBC9}" type="datetimeFigureOut">
              <a:rPr lang="es-MX" smtClean="0"/>
              <a:t>01/11/2025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6E7828-F78D-4D45-AEFA-3E8F7B1A0A8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685854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Eduardo</a:t>
            </a:r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6E7828-F78D-4D45-AEFA-3E8F7B1A0A8D}" type="slidenum">
              <a:rPr lang="es-MX" smtClean="0"/>
              <a:t>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077806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Eduardo</a:t>
            </a:r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6E7828-F78D-4D45-AEFA-3E8F7B1A0A8D}" type="slidenum">
              <a:rPr lang="es-MX" smtClean="0"/>
              <a:t>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757579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Eduardo</a:t>
            </a:r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6E7828-F78D-4D45-AEFA-3E8F7B1A0A8D}" type="slidenum">
              <a:rPr lang="es-MX" smtClean="0"/>
              <a:t>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497128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Esteban</a:t>
            </a:r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6E7828-F78D-4D45-AEFA-3E8F7B1A0A8D}" type="slidenum">
              <a:rPr lang="es-MX" smtClean="0"/>
              <a:t>4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250702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Fernando</a:t>
            </a:r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6E7828-F78D-4D45-AEFA-3E8F7B1A0A8D}" type="slidenum">
              <a:rPr lang="es-MX" smtClean="0"/>
              <a:t>5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498969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Oscar</a:t>
            </a:r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6E7828-F78D-4D45-AEFA-3E8F7B1A0A8D}" type="slidenum">
              <a:rPr lang="es-MX" smtClean="0"/>
              <a:t>6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331849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armand</a:t>
            </a:r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6E7828-F78D-4D45-AEFA-3E8F7B1A0A8D}" type="slidenum">
              <a:rPr lang="es-MX" smtClean="0"/>
              <a:t>7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439812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Eduardo</a:t>
            </a:r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6E7828-F78D-4D45-AEFA-3E8F7B1A0A8D}" type="slidenum">
              <a:rPr lang="es-MX" smtClean="0"/>
              <a:t>8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038883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9314" y="596019"/>
            <a:ext cx="7510506" cy="3213982"/>
          </a:xfrm>
        </p:spPr>
        <p:txBody>
          <a:bodyPr anchor="b">
            <a:normAutofit/>
          </a:bodyPr>
          <a:lstStyle>
            <a:lvl1pPr algn="ctr">
              <a:defRPr sz="40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9314" y="3886200"/>
            <a:ext cx="7510506" cy="2219108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0" scaled="1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649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6297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9314" y="3270698"/>
            <a:ext cx="7510506" cy="1823305"/>
          </a:xfrm>
        </p:spPr>
        <p:txBody>
          <a:bodyPr anchor="b">
            <a:normAutofit/>
          </a:bodyPr>
          <a:lstStyle>
            <a:lvl1pPr algn="r">
              <a:defRPr sz="2800" b="0" cap="all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9314" y="5103810"/>
            <a:ext cx="7510506" cy="99825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5823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347" y="2060898"/>
            <a:ext cx="3685073" cy="4031331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0" y="2060898"/>
            <a:ext cx="3689239" cy="403133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0353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6306" y="2060898"/>
            <a:ext cx="3397113" cy="733596"/>
          </a:xfrm>
        </p:spPr>
        <p:txBody>
          <a:bodyPr anchor="b">
            <a:noAutofit/>
          </a:bodyPr>
          <a:lstStyle>
            <a:lvl1pPr marL="0" indent="0">
              <a:buNone/>
              <a:defRPr sz="2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8347" y="2786027"/>
            <a:ext cx="3685073" cy="3316033"/>
          </a:xfrm>
        </p:spPr>
        <p:txBody>
          <a:bodyPr anchor="t"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10150" y="2060898"/>
            <a:ext cx="3419670" cy="725129"/>
          </a:xfrm>
        </p:spPr>
        <p:txBody>
          <a:bodyPr anchor="b">
            <a:noAutofit/>
          </a:bodyPr>
          <a:lstStyle>
            <a:lvl1pPr marL="0" indent="0">
              <a:buNone/>
              <a:defRPr sz="2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65" y="2786027"/>
            <a:ext cx="3701520" cy="3316033"/>
          </a:xfrm>
        </p:spPr>
        <p:txBody>
          <a:bodyPr anchor="t"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475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6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9360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611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347" y="1754928"/>
            <a:ext cx="2729523" cy="1371600"/>
          </a:xfrm>
        </p:spPr>
        <p:txBody>
          <a:bodyPr anchor="b">
            <a:normAutofit/>
          </a:bodyPr>
          <a:lstStyle>
            <a:lvl1pPr algn="l">
              <a:defRPr sz="2200" b="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28856" y="596018"/>
            <a:ext cx="4500964" cy="5506041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8347" y="3126528"/>
            <a:ext cx="2729523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5021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347" y="1898269"/>
            <a:ext cx="4423803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15442" y="-18288"/>
            <a:ext cx="2500062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7318" y="3269869"/>
            <a:ext cx="4423803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23649" y="6181344"/>
            <a:ext cx="718502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18348" y="6181344"/>
            <a:ext cx="37053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24262" y="6181344"/>
            <a:ext cx="305186" cy="329250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811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677" y="4377485"/>
            <a:ext cx="7413007" cy="907505"/>
          </a:xfrm>
        </p:spPr>
        <p:txBody>
          <a:bodyPr anchor="b">
            <a:normAutofit/>
          </a:bodyPr>
          <a:lstStyle>
            <a:lvl1pPr algn="l">
              <a:defRPr sz="2000" b="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7678" y="996188"/>
            <a:ext cx="7301427" cy="298112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677" y="5284990"/>
            <a:ext cx="7413007" cy="81707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7678" y="6181344"/>
            <a:ext cx="533727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1961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347" y="596018"/>
            <a:ext cx="7511474" cy="3137782"/>
          </a:xfrm>
        </p:spPr>
        <p:txBody>
          <a:bodyPr anchor="ctr">
            <a:normAutofit/>
          </a:bodyPr>
          <a:lstStyle>
            <a:lvl1pPr algn="l">
              <a:defRPr sz="2800" b="0" cap="all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8347" y="4343400"/>
            <a:ext cx="7511474" cy="175866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4290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583818" y="86027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88822" y="29859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942" y="596018"/>
            <a:ext cx="6974115" cy="3044079"/>
          </a:xfrm>
        </p:spPr>
        <p:txBody>
          <a:bodyPr anchor="ctr">
            <a:normAutofit/>
          </a:bodyPr>
          <a:lstStyle>
            <a:lvl1pPr algn="l">
              <a:defRPr sz="28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256436" y="3650606"/>
            <a:ext cx="6631128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4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8347" y="4641206"/>
            <a:ext cx="7511473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0" scaled="1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1804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347" y="3603566"/>
            <a:ext cx="7512338" cy="1468800"/>
          </a:xfrm>
        </p:spPr>
        <p:txBody>
          <a:bodyPr anchor="b">
            <a:normAutofit/>
          </a:bodyPr>
          <a:lstStyle>
            <a:lvl1pPr algn="l">
              <a:defRPr sz="2800" b="0" cap="all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1015" y="5072366"/>
            <a:ext cx="7512339" cy="102969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6236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583818" y="75385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87556" y="287949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942" y="596018"/>
            <a:ext cx="6974115" cy="2844369"/>
          </a:xfrm>
        </p:spPr>
        <p:txBody>
          <a:bodyPr anchor="ctr">
            <a:normAutofit/>
          </a:bodyPr>
          <a:lstStyle>
            <a:lvl1pPr algn="l">
              <a:defRPr sz="28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818347" y="3886200"/>
            <a:ext cx="7512338" cy="105366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0" scaled="1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MX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8347" y="4939862"/>
            <a:ext cx="7512338" cy="1162198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1923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346" y="596018"/>
            <a:ext cx="7511473" cy="2756783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800" b="0" dirty="0"/>
            </a:lvl1pPr>
          </a:lstStyle>
          <a:p>
            <a:pPr marL="0" lvl="0"/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818346" y="3682941"/>
            <a:ext cx="7511473" cy="1049283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MX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8347" y="4732224"/>
            <a:ext cx="7511472" cy="1369836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9148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818347" y="596018"/>
            <a:ext cx="7511473" cy="1312480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967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1708" y="596018"/>
            <a:ext cx="1778112" cy="5506042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8347" y="596018"/>
            <a:ext cx="5624137" cy="5506042"/>
          </a:xfrm>
        </p:spPr>
        <p:txBody>
          <a:bodyPr vert="eaVert" anchor="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443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8347" y="596018"/>
            <a:ext cx="7511473" cy="13124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8348" y="2060898"/>
            <a:ext cx="7511472" cy="4041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551708" y="6178260"/>
            <a:ext cx="12874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18347" y="6178260"/>
            <a:ext cx="56241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17202" y="6178260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16417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28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1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1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1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1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092BD7-649C-F2D7-1C0E-4AC48F4E70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484187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es-MX" dirty="0"/>
              <a:t>Fase 2: Implementación y gestión operativa del pipeline de Machine </a:t>
            </a:r>
            <a:r>
              <a:rPr lang="es-MX" dirty="0" err="1"/>
              <a:t>Learning</a:t>
            </a:r>
            <a:endParaRPr lang="es-MX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3BAFEB2-61CF-9170-A474-795BBCFC8874}"/>
              </a:ext>
            </a:extLst>
          </p:cNvPr>
          <p:cNvSpPr txBox="1"/>
          <p:nvPr/>
        </p:nvSpPr>
        <p:spPr>
          <a:xfrm>
            <a:off x="896112" y="2266801"/>
            <a:ext cx="796442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s-MX" dirty="0"/>
              <a:t>Proyecto: Predicción del rendimiento académico mediante aprendizaje supervisado</a:t>
            </a:r>
          </a:p>
          <a:p>
            <a:pPr marL="0" indent="0">
              <a:buNone/>
            </a:pPr>
            <a:endParaRPr lang="es-MX" dirty="0"/>
          </a:p>
          <a:p>
            <a:r>
              <a:rPr lang="es-MX" dirty="0">
                <a:effectLst/>
              </a:rPr>
              <a:t>A01796362 Eduardo </a:t>
            </a:r>
            <a:r>
              <a:rPr lang="es-MX" dirty="0" err="1">
                <a:effectLst/>
              </a:rPr>
              <a:t>Perez</a:t>
            </a:r>
            <a:r>
              <a:rPr lang="es-MX" dirty="0">
                <a:effectLst/>
              </a:rPr>
              <a:t> Carrillo</a:t>
            </a:r>
          </a:p>
          <a:p>
            <a:r>
              <a:rPr lang="es-MX" dirty="0">
                <a:effectLst/>
              </a:rPr>
              <a:t>A01365006 Oscar Gerardo Álvarez Mejía</a:t>
            </a:r>
          </a:p>
          <a:p>
            <a:r>
              <a:rPr lang="es-MX" dirty="0">
                <a:effectLst/>
              </a:rPr>
              <a:t>A01797139 </a:t>
            </a:r>
            <a:r>
              <a:rPr lang="es-MX" dirty="0" err="1">
                <a:effectLst/>
              </a:rPr>
              <a:t>Deménard</a:t>
            </a:r>
            <a:r>
              <a:rPr lang="es-MX" dirty="0">
                <a:effectLst/>
              </a:rPr>
              <a:t> </a:t>
            </a:r>
            <a:r>
              <a:rPr lang="es-MX" dirty="0" err="1">
                <a:effectLst/>
              </a:rPr>
              <a:t>Gardy</a:t>
            </a:r>
            <a:r>
              <a:rPr lang="es-MX" dirty="0">
                <a:effectLst/>
              </a:rPr>
              <a:t> Armand</a:t>
            </a:r>
          </a:p>
          <a:p>
            <a:r>
              <a:rPr lang="es-MX" dirty="0">
                <a:effectLst/>
              </a:rPr>
              <a:t>A01796858 Luis Esteban Barranco Guida</a:t>
            </a:r>
          </a:p>
          <a:p>
            <a:r>
              <a:rPr lang="es-MX" dirty="0">
                <a:effectLst/>
              </a:rPr>
              <a:t>A01796859 Fernando Abel Leal Villavicencio</a:t>
            </a:r>
          </a:p>
          <a:p>
            <a:pPr marL="0" indent="0">
              <a:buNone/>
            </a:pPr>
            <a:endParaRPr lang="es-MX" dirty="0"/>
          </a:p>
          <a:p>
            <a:pPr marL="0" indent="0" algn="r">
              <a:buNone/>
            </a:pPr>
            <a:r>
              <a:rPr lang="es-MX" dirty="0"/>
              <a:t>Equipo 13 – Noviembre 2025</a:t>
            </a:r>
          </a:p>
        </p:txBody>
      </p:sp>
    </p:spTree>
    <p:extLst>
      <p:ext uri="{BB962C8B-B14F-4D97-AF65-F5344CB8AC3E}">
        <p14:creationId xmlns:p14="http://schemas.microsoft.com/office/powerpoint/2010/main" val="20728175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Fase 2: </a:t>
            </a:r>
            <a:r>
              <a:rPr dirty="0" err="1"/>
              <a:t>Implementación</a:t>
            </a:r>
            <a:r>
              <a:rPr dirty="0"/>
              <a:t> y </a:t>
            </a:r>
            <a:r>
              <a:rPr dirty="0" err="1"/>
              <a:t>gestión</a:t>
            </a:r>
            <a:r>
              <a:rPr dirty="0"/>
              <a:t> </a:t>
            </a:r>
            <a:r>
              <a:rPr dirty="0" err="1"/>
              <a:t>operativa</a:t>
            </a:r>
            <a:r>
              <a:rPr dirty="0"/>
              <a:t> del pipeline de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dirty="0"/>
              <a:t>En </a:t>
            </a:r>
            <a:r>
              <a:rPr dirty="0" err="1"/>
              <a:t>esta</a:t>
            </a:r>
            <a:r>
              <a:rPr dirty="0"/>
              <a:t> </a:t>
            </a:r>
            <a:r>
              <a:rPr dirty="0" err="1"/>
              <a:t>fase</a:t>
            </a:r>
            <a:r>
              <a:rPr dirty="0"/>
              <a:t> se </a:t>
            </a:r>
            <a:r>
              <a:rPr dirty="0" err="1"/>
              <a:t>consolidó</a:t>
            </a:r>
            <a:r>
              <a:rPr dirty="0"/>
              <a:t> la </a:t>
            </a:r>
            <a:r>
              <a:rPr dirty="0" err="1"/>
              <a:t>estructura</a:t>
            </a:r>
            <a:r>
              <a:rPr dirty="0"/>
              <a:t> </a:t>
            </a:r>
            <a:r>
              <a:rPr dirty="0" err="1"/>
              <a:t>técnica</a:t>
            </a:r>
            <a:r>
              <a:rPr dirty="0"/>
              <a:t> del </a:t>
            </a:r>
            <a:r>
              <a:rPr dirty="0" err="1"/>
              <a:t>proyecto</a:t>
            </a:r>
            <a:r>
              <a:rPr dirty="0"/>
              <a:t> </a:t>
            </a:r>
            <a:r>
              <a:rPr dirty="0" err="1"/>
              <a:t>mediante</a:t>
            </a:r>
            <a:r>
              <a:rPr dirty="0"/>
              <a:t> la </a:t>
            </a:r>
            <a:r>
              <a:rPr dirty="0" err="1"/>
              <a:t>automatización</a:t>
            </a:r>
            <a:r>
              <a:rPr dirty="0"/>
              <a:t> del pipeline de </a:t>
            </a:r>
            <a:r>
              <a:rPr dirty="0" err="1"/>
              <a:t>modelado</a:t>
            </a:r>
            <a:r>
              <a:rPr dirty="0"/>
              <a:t>, la </a:t>
            </a:r>
            <a:r>
              <a:rPr dirty="0" err="1"/>
              <a:t>refactorización</a:t>
            </a:r>
            <a:r>
              <a:rPr dirty="0"/>
              <a:t> del </a:t>
            </a:r>
            <a:r>
              <a:rPr dirty="0" err="1"/>
              <a:t>código</a:t>
            </a:r>
            <a:r>
              <a:rPr dirty="0"/>
              <a:t> y la </a:t>
            </a:r>
            <a:r>
              <a:rPr dirty="0" err="1"/>
              <a:t>adopción</a:t>
            </a:r>
            <a:r>
              <a:rPr dirty="0"/>
              <a:t> de </a:t>
            </a:r>
            <a:r>
              <a:rPr dirty="0" err="1"/>
              <a:t>herramientas</a:t>
            </a:r>
            <a:r>
              <a:rPr dirty="0"/>
              <a:t> de </a:t>
            </a:r>
            <a:r>
              <a:rPr dirty="0" err="1"/>
              <a:t>gestión</a:t>
            </a:r>
            <a:r>
              <a:rPr dirty="0"/>
              <a:t> de </a:t>
            </a:r>
            <a:r>
              <a:rPr dirty="0" err="1"/>
              <a:t>experimentos</a:t>
            </a:r>
            <a:r>
              <a:rPr dirty="0"/>
              <a:t>. Su </a:t>
            </a:r>
            <a:r>
              <a:rPr dirty="0" err="1"/>
              <a:t>propósito</a:t>
            </a:r>
            <a:r>
              <a:rPr dirty="0"/>
              <a:t> </a:t>
            </a:r>
            <a:r>
              <a:rPr dirty="0" err="1"/>
              <a:t>fue</a:t>
            </a:r>
            <a:r>
              <a:rPr dirty="0"/>
              <a:t> </a:t>
            </a:r>
            <a:r>
              <a:rPr dirty="0" err="1"/>
              <a:t>garantizar</a:t>
            </a:r>
            <a:r>
              <a:rPr dirty="0"/>
              <a:t> la </a:t>
            </a:r>
            <a:r>
              <a:rPr dirty="0" err="1"/>
              <a:t>reproducibilidad</a:t>
            </a:r>
            <a:r>
              <a:rPr dirty="0"/>
              <a:t>, </a:t>
            </a:r>
            <a:r>
              <a:rPr dirty="0" err="1"/>
              <a:t>trazabilidad</a:t>
            </a:r>
            <a:r>
              <a:rPr dirty="0"/>
              <a:t> y </a:t>
            </a:r>
            <a:r>
              <a:rPr dirty="0" err="1"/>
              <a:t>estabilidad</a:t>
            </a:r>
            <a:r>
              <a:rPr dirty="0"/>
              <a:t> del </a:t>
            </a:r>
            <a:r>
              <a:rPr dirty="0" err="1"/>
              <a:t>flujo</a:t>
            </a:r>
            <a:r>
              <a:rPr dirty="0"/>
              <a:t> de Machine Learning bajo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principios</a:t>
            </a:r>
            <a:r>
              <a:rPr dirty="0"/>
              <a:t> de </a:t>
            </a:r>
            <a:r>
              <a:rPr dirty="0" err="1"/>
              <a:t>MLOps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Asignación de roles y actividades – Fase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SME: Supervisar la interpretación de variables y coherencia con los objetivos.</a:t>
            </a:r>
          </a:p>
          <a:p>
            <a:pPr>
              <a:defRPr sz="1800"/>
            </a:pPr>
            <a:r>
              <a:t>Data Scientist: Diseñar y ejecutar scripts modulares de limpieza, segmentación y entrenamiento.</a:t>
            </a:r>
          </a:p>
          <a:p>
            <a:pPr>
              <a:defRPr sz="1800"/>
            </a:pPr>
            <a:r>
              <a:t>Data Engineer: Gestionar la estructura con Cookiecutter y control de artefactos en W&amp;B/MLflow.</a:t>
            </a:r>
          </a:p>
          <a:p>
            <a:pPr>
              <a:defRPr sz="1800"/>
            </a:pPr>
            <a:r>
              <a:t>DevOps Engineer: Implementar automatización con Hydra, Docker y validación reproducible.</a:t>
            </a:r>
          </a:p>
          <a:p>
            <a:pPr>
              <a:defRPr sz="1800"/>
            </a:pPr>
            <a:r>
              <a:t>ML Architect: Integrar y documentar el pipeline general y sus dependencias.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 err="1"/>
              <a:t>Automatización</a:t>
            </a:r>
            <a:r>
              <a:rPr dirty="0"/>
              <a:t> del pipeline de </a:t>
            </a:r>
            <a:r>
              <a:rPr dirty="0" err="1"/>
              <a:t>modelado</a:t>
            </a:r>
            <a:endParaRPr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03F526F-9B6A-339A-6830-AFBBFFE499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022" y="1908498"/>
            <a:ext cx="8014722" cy="490887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Refactorización modular del código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348" y="1773972"/>
            <a:ext cx="7511472" cy="2164044"/>
          </a:xfrm>
        </p:spPr>
        <p:txBody>
          <a:bodyPr>
            <a:normAutofit lnSpcReduction="10000"/>
          </a:bodyPr>
          <a:lstStyle/>
          <a:p>
            <a:pPr>
              <a:defRPr sz="1800"/>
            </a:pPr>
            <a:r>
              <a:rPr dirty="0"/>
              <a:t>Durante </a:t>
            </a:r>
            <a:r>
              <a:rPr dirty="0" err="1"/>
              <a:t>esta</a:t>
            </a:r>
            <a:r>
              <a:rPr dirty="0"/>
              <a:t> </a:t>
            </a:r>
            <a:r>
              <a:rPr dirty="0" err="1"/>
              <a:t>fase</a:t>
            </a:r>
            <a:r>
              <a:rPr dirty="0"/>
              <a:t> se </a:t>
            </a:r>
            <a:r>
              <a:rPr dirty="0" err="1"/>
              <a:t>realizó</a:t>
            </a:r>
            <a:r>
              <a:rPr dirty="0"/>
              <a:t> la </a:t>
            </a:r>
            <a:r>
              <a:rPr dirty="0" err="1"/>
              <a:t>refactorización</a:t>
            </a:r>
            <a:r>
              <a:rPr dirty="0"/>
              <a:t> </a:t>
            </a:r>
            <a:r>
              <a:rPr dirty="0" err="1"/>
              <a:t>completa</a:t>
            </a:r>
            <a:r>
              <a:rPr dirty="0"/>
              <a:t> del </a:t>
            </a:r>
            <a:r>
              <a:rPr dirty="0" err="1"/>
              <a:t>código</a:t>
            </a:r>
            <a:r>
              <a:rPr dirty="0"/>
              <a:t>, </a:t>
            </a:r>
            <a:r>
              <a:rPr dirty="0" err="1"/>
              <a:t>reemplazando</a:t>
            </a:r>
            <a:r>
              <a:rPr dirty="0"/>
              <a:t> </a:t>
            </a:r>
            <a:r>
              <a:rPr dirty="0" err="1"/>
              <a:t>los</a:t>
            </a:r>
            <a:r>
              <a:rPr dirty="0"/>
              <a:t> notebooks </a:t>
            </a:r>
            <a:r>
              <a:rPr dirty="0" err="1"/>
              <a:t>exploratorios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scripts </a:t>
            </a:r>
            <a:r>
              <a:rPr dirty="0" err="1"/>
              <a:t>ejecutables</a:t>
            </a:r>
            <a:r>
              <a:rPr dirty="0"/>
              <a:t> con la </a:t>
            </a:r>
            <a:r>
              <a:rPr dirty="0" err="1"/>
              <a:t>estructura</a:t>
            </a:r>
            <a:r>
              <a:rPr dirty="0"/>
              <a:t> run.py. Cada </a:t>
            </a:r>
            <a:r>
              <a:rPr dirty="0" err="1"/>
              <a:t>módulo</a:t>
            </a:r>
            <a:r>
              <a:rPr dirty="0"/>
              <a:t> </a:t>
            </a:r>
            <a:r>
              <a:rPr dirty="0" err="1"/>
              <a:t>fue</a:t>
            </a:r>
            <a:r>
              <a:rPr dirty="0"/>
              <a:t> </a:t>
            </a:r>
            <a:r>
              <a:rPr dirty="0" err="1"/>
              <a:t>diseñado</a:t>
            </a:r>
            <a:r>
              <a:rPr dirty="0"/>
              <a:t> con </a:t>
            </a:r>
            <a:r>
              <a:rPr dirty="0" err="1"/>
              <a:t>responsabilidades</a:t>
            </a:r>
            <a:r>
              <a:rPr dirty="0"/>
              <a:t> </a:t>
            </a:r>
            <a:r>
              <a:rPr dirty="0" err="1"/>
              <a:t>específicas</a:t>
            </a:r>
            <a:r>
              <a:rPr dirty="0"/>
              <a:t> y </a:t>
            </a:r>
            <a:r>
              <a:rPr dirty="0" err="1"/>
              <a:t>parametrización</a:t>
            </a:r>
            <a:r>
              <a:rPr dirty="0"/>
              <a:t> </a:t>
            </a:r>
            <a:r>
              <a:rPr dirty="0" err="1"/>
              <a:t>mediante</a:t>
            </a:r>
            <a:r>
              <a:rPr dirty="0"/>
              <a:t> </a:t>
            </a:r>
            <a:r>
              <a:rPr dirty="0" err="1"/>
              <a:t>línea</a:t>
            </a:r>
            <a:r>
              <a:rPr dirty="0"/>
              <a:t> de </a:t>
            </a:r>
            <a:r>
              <a:rPr dirty="0" err="1"/>
              <a:t>comandos</a:t>
            </a:r>
            <a:r>
              <a:rPr dirty="0"/>
              <a:t>, lo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permitió</a:t>
            </a:r>
            <a:r>
              <a:rPr dirty="0"/>
              <a:t> </a:t>
            </a:r>
            <a:r>
              <a:rPr dirty="0" err="1"/>
              <a:t>ejecutar</a:t>
            </a:r>
            <a:r>
              <a:rPr dirty="0"/>
              <a:t> </a:t>
            </a:r>
            <a:r>
              <a:rPr dirty="0" err="1"/>
              <a:t>procesos</a:t>
            </a:r>
            <a:r>
              <a:rPr dirty="0"/>
              <a:t> de forma </a:t>
            </a:r>
            <a:r>
              <a:rPr dirty="0" err="1"/>
              <a:t>controlada</a:t>
            </a:r>
            <a:r>
              <a:rPr dirty="0"/>
              <a:t> y </a:t>
            </a:r>
            <a:r>
              <a:rPr dirty="0" err="1"/>
              <a:t>registrarlos</a:t>
            </a:r>
            <a:r>
              <a:rPr dirty="0"/>
              <a:t> </a:t>
            </a:r>
            <a:r>
              <a:rPr dirty="0" err="1"/>
              <a:t>automáticamente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W&amp;B. Esta </a:t>
            </a:r>
            <a:r>
              <a:rPr dirty="0" err="1"/>
              <a:t>transición</a:t>
            </a:r>
            <a:r>
              <a:rPr dirty="0"/>
              <a:t> </a:t>
            </a:r>
            <a:r>
              <a:rPr dirty="0" err="1"/>
              <a:t>favoreció</a:t>
            </a:r>
            <a:r>
              <a:rPr dirty="0"/>
              <a:t> la </a:t>
            </a:r>
            <a:r>
              <a:rPr dirty="0" err="1"/>
              <a:t>mantenibilidad</a:t>
            </a:r>
            <a:r>
              <a:rPr dirty="0"/>
              <a:t>, </a:t>
            </a:r>
            <a:r>
              <a:rPr dirty="0" err="1"/>
              <a:t>escalabilidad</a:t>
            </a:r>
            <a:r>
              <a:rPr dirty="0"/>
              <a:t> y </a:t>
            </a:r>
            <a:r>
              <a:rPr dirty="0" err="1"/>
              <a:t>organización</a:t>
            </a:r>
            <a:r>
              <a:rPr dirty="0"/>
              <a:t> del </a:t>
            </a:r>
            <a:r>
              <a:rPr dirty="0" err="1"/>
              <a:t>proyecto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Estructuración con Cookiecutter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348" y="1578900"/>
            <a:ext cx="7511472" cy="2261580"/>
          </a:xfrm>
        </p:spPr>
        <p:txBody>
          <a:bodyPr>
            <a:normAutofit lnSpcReduction="10000"/>
          </a:bodyPr>
          <a:lstStyle/>
          <a:p>
            <a:pPr>
              <a:defRPr sz="1800"/>
            </a:pPr>
            <a:r>
              <a:rPr dirty="0"/>
              <a:t>La </a:t>
            </a:r>
            <a:r>
              <a:rPr dirty="0" err="1"/>
              <a:t>adopción</a:t>
            </a:r>
            <a:r>
              <a:rPr dirty="0"/>
              <a:t> del </a:t>
            </a:r>
            <a:r>
              <a:rPr dirty="0" err="1"/>
              <a:t>esquema</a:t>
            </a:r>
            <a:r>
              <a:rPr dirty="0"/>
              <a:t> </a:t>
            </a:r>
            <a:r>
              <a:rPr dirty="0" err="1"/>
              <a:t>Cookiecutter</a:t>
            </a:r>
            <a:r>
              <a:rPr dirty="0"/>
              <a:t> ML Project </a:t>
            </a:r>
            <a:r>
              <a:rPr dirty="0" err="1"/>
              <a:t>permitió</a:t>
            </a:r>
            <a:r>
              <a:rPr dirty="0"/>
              <a:t> </a:t>
            </a:r>
            <a:r>
              <a:rPr dirty="0" err="1"/>
              <a:t>estandarizar</a:t>
            </a:r>
            <a:r>
              <a:rPr dirty="0"/>
              <a:t> la </a:t>
            </a:r>
            <a:r>
              <a:rPr dirty="0" err="1"/>
              <a:t>jerarquía</a:t>
            </a:r>
            <a:r>
              <a:rPr dirty="0"/>
              <a:t> del </a:t>
            </a:r>
            <a:r>
              <a:rPr dirty="0" err="1"/>
              <a:t>repositorio</a:t>
            </a:r>
            <a:r>
              <a:rPr dirty="0"/>
              <a:t>, </a:t>
            </a:r>
            <a:r>
              <a:rPr dirty="0" err="1"/>
              <a:t>definiendo</a:t>
            </a:r>
            <a:r>
              <a:rPr dirty="0"/>
              <a:t> </a:t>
            </a:r>
            <a:r>
              <a:rPr dirty="0" err="1"/>
              <a:t>carpetas</a:t>
            </a:r>
            <a:r>
              <a:rPr dirty="0"/>
              <a:t> para </a:t>
            </a:r>
            <a:r>
              <a:rPr dirty="0" err="1"/>
              <a:t>código</a:t>
            </a:r>
            <a:r>
              <a:rPr dirty="0"/>
              <a:t> </a:t>
            </a:r>
            <a:r>
              <a:rPr dirty="0" err="1"/>
              <a:t>fuente</a:t>
            </a:r>
            <a:r>
              <a:rPr dirty="0"/>
              <a:t>, </a:t>
            </a:r>
            <a:r>
              <a:rPr dirty="0" err="1"/>
              <a:t>datos</a:t>
            </a:r>
            <a:r>
              <a:rPr dirty="0"/>
              <a:t>, </a:t>
            </a:r>
            <a:r>
              <a:rPr dirty="0" err="1"/>
              <a:t>configuraciones</a:t>
            </a:r>
            <a:r>
              <a:rPr dirty="0"/>
              <a:t> y </a:t>
            </a:r>
            <a:r>
              <a:rPr dirty="0" err="1"/>
              <a:t>resultados</a:t>
            </a:r>
            <a:r>
              <a:rPr dirty="0"/>
              <a:t>. </a:t>
            </a:r>
            <a:r>
              <a:rPr dirty="0" err="1"/>
              <a:t>Además</a:t>
            </a:r>
            <a:r>
              <a:rPr dirty="0"/>
              <a:t>, se </a:t>
            </a:r>
            <a:r>
              <a:rPr dirty="0" err="1"/>
              <a:t>implementó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plantilla</a:t>
            </a:r>
            <a:r>
              <a:rPr dirty="0"/>
              <a:t> interna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automatiza</a:t>
            </a:r>
            <a:r>
              <a:rPr dirty="0"/>
              <a:t> la </a:t>
            </a:r>
            <a:r>
              <a:rPr dirty="0" err="1"/>
              <a:t>creación</a:t>
            </a:r>
            <a:r>
              <a:rPr dirty="0"/>
              <a:t> de </a:t>
            </a:r>
            <a:r>
              <a:rPr dirty="0" err="1"/>
              <a:t>nuevos</a:t>
            </a:r>
            <a:r>
              <a:rPr dirty="0"/>
              <a:t> </a:t>
            </a:r>
            <a:r>
              <a:rPr dirty="0" err="1"/>
              <a:t>módulos</a:t>
            </a:r>
            <a:r>
              <a:rPr dirty="0"/>
              <a:t> del pipeline, </a:t>
            </a:r>
            <a:r>
              <a:rPr dirty="0" err="1"/>
              <a:t>generando</a:t>
            </a:r>
            <a:r>
              <a:rPr dirty="0"/>
              <a:t>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archivos</a:t>
            </a:r>
            <a:r>
              <a:rPr dirty="0"/>
              <a:t> base y </a:t>
            </a:r>
            <a:r>
              <a:rPr dirty="0" err="1"/>
              <a:t>configuraciones</a:t>
            </a:r>
            <a:r>
              <a:rPr dirty="0"/>
              <a:t> </a:t>
            </a:r>
            <a:r>
              <a:rPr dirty="0" err="1"/>
              <a:t>necesarias</a:t>
            </a:r>
            <a:r>
              <a:rPr dirty="0"/>
              <a:t>. Este </a:t>
            </a:r>
            <a:r>
              <a:rPr dirty="0" err="1"/>
              <a:t>enfoque</a:t>
            </a:r>
            <a:r>
              <a:rPr dirty="0"/>
              <a:t> </a:t>
            </a:r>
            <a:r>
              <a:rPr dirty="0" err="1"/>
              <a:t>asegura</a:t>
            </a:r>
            <a:r>
              <a:rPr dirty="0"/>
              <a:t> </a:t>
            </a:r>
            <a:r>
              <a:rPr dirty="0" err="1"/>
              <a:t>coherencia</a:t>
            </a:r>
            <a:r>
              <a:rPr dirty="0"/>
              <a:t> entre </a:t>
            </a:r>
            <a:r>
              <a:rPr dirty="0" err="1"/>
              <a:t>componentes</a:t>
            </a:r>
            <a:r>
              <a:rPr dirty="0"/>
              <a:t>, reduce </a:t>
            </a:r>
            <a:r>
              <a:rPr dirty="0" err="1"/>
              <a:t>errores</a:t>
            </a:r>
            <a:r>
              <a:rPr dirty="0"/>
              <a:t> </a:t>
            </a:r>
            <a:r>
              <a:rPr dirty="0" err="1"/>
              <a:t>manuales</a:t>
            </a:r>
            <a:r>
              <a:rPr dirty="0"/>
              <a:t> y </a:t>
            </a:r>
            <a:r>
              <a:rPr dirty="0" err="1"/>
              <a:t>facilita</a:t>
            </a:r>
            <a:r>
              <a:rPr dirty="0"/>
              <a:t> la </a:t>
            </a:r>
            <a:r>
              <a:rPr dirty="0" err="1"/>
              <a:t>colaboración</a:t>
            </a:r>
            <a:r>
              <a:rPr dirty="0"/>
              <a:t> entre </a:t>
            </a:r>
            <a:r>
              <a:rPr dirty="0" err="1"/>
              <a:t>los</a:t>
            </a:r>
            <a:r>
              <a:rPr dirty="0"/>
              <a:t> roles del </a:t>
            </a:r>
            <a:r>
              <a:rPr dirty="0" err="1"/>
              <a:t>equipo</a:t>
            </a:r>
            <a:r>
              <a:rPr dirty="0"/>
              <a:t>.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2456915C-E1DF-8654-EA2B-01A3EDB834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6040" y="3816462"/>
            <a:ext cx="2727960" cy="2636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8C02E276-5C9D-6726-96CF-1C540D8BD7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424" y="3938016"/>
            <a:ext cx="5943600" cy="2514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Seguimiento y gestión de experimentos en W&amp;B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348" y="1908498"/>
            <a:ext cx="7511472" cy="1993356"/>
          </a:xfrm>
        </p:spPr>
        <p:txBody>
          <a:bodyPr/>
          <a:lstStyle/>
          <a:p>
            <a:pPr>
              <a:defRPr sz="1800"/>
            </a:pPr>
            <a:r>
              <a:t>Weights &amp; Biases (W&amp;B) se integró como portal central de registro y monitoreo de experimentos. La plataforma permite visualizar métricas de entrenamiento, comparar ejecuciones, almacenar artefactos y analizar resultados en tiempo real. Esta herramienta facilita la trazabilidad completa de los procesos y fortalece la reproducibilidad de los resultados.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3F051379-8289-B696-6436-F401C40014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7974" y="4021209"/>
            <a:ext cx="4091626" cy="2386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11449A61-A26E-52C7-7548-9ADABCCE7C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3652" y="4021209"/>
            <a:ext cx="4946904" cy="23862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Conclusiones y recomendaciones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dirty="0"/>
              <a:t>La Fase 2 </a:t>
            </a:r>
            <a:r>
              <a:rPr dirty="0" err="1"/>
              <a:t>consolidó</a:t>
            </a:r>
            <a:r>
              <a:rPr dirty="0"/>
              <a:t> la </a:t>
            </a:r>
            <a:r>
              <a:rPr dirty="0" err="1"/>
              <a:t>madurez</a:t>
            </a:r>
            <a:r>
              <a:rPr dirty="0"/>
              <a:t> </a:t>
            </a:r>
            <a:r>
              <a:rPr dirty="0" err="1"/>
              <a:t>técnica</a:t>
            </a:r>
            <a:r>
              <a:rPr dirty="0"/>
              <a:t> del </a:t>
            </a:r>
            <a:r>
              <a:rPr dirty="0" err="1"/>
              <a:t>proyecto</a:t>
            </a:r>
            <a:r>
              <a:rPr dirty="0"/>
              <a:t> al </a:t>
            </a:r>
            <a:r>
              <a:rPr dirty="0" err="1"/>
              <a:t>establecer</a:t>
            </a:r>
            <a:r>
              <a:rPr dirty="0"/>
              <a:t> un </a:t>
            </a:r>
            <a:r>
              <a:rPr dirty="0" err="1"/>
              <a:t>flujo</a:t>
            </a:r>
            <a:r>
              <a:rPr dirty="0"/>
              <a:t> </a:t>
            </a:r>
            <a:r>
              <a:rPr dirty="0" err="1"/>
              <a:t>automatizado</a:t>
            </a:r>
            <a:r>
              <a:rPr dirty="0"/>
              <a:t>, reproducible y </a:t>
            </a:r>
            <a:r>
              <a:rPr dirty="0" err="1"/>
              <a:t>alineado</a:t>
            </a:r>
            <a:r>
              <a:rPr dirty="0"/>
              <a:t> con las </a:t>
            </a:r>
            <a:r>
              <a:rPr dirty="0" err="1"/>
              <a:t>buenas</a:t>
            </a:r>
            <a:r>
              <a:rPr dirty="0"/>
              <a:t> </a:t>
            </a:r>
            <a:r>
              <a:rPr dirty="0" err="1"/>
              <a:t>prácticas</a:t>
            </a:r>
            <a:r>
              <a:rPr dirty="0"/>
              <a:t> de </a:t>
            </a:r>
            <a:r>
              <a:rPr dirty="0" err="1"/>
              <a:t>ingeniería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Machine Learning. El </a:t>
            </a:r>
            <a:r>
              <a:rPr dirty="0" err="1"/>
              <a:t>uso</a:t>
            </a:r>
            <a:r>
              <a:rPr dirty="0"/>
              <a:t> de </a:t>
            </a:r>
            <a:r>
              <a:rPr dirty="0" err="1"/>
              <a:t>herramientas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Hydra, W&amp;B y </a:t>
            </a:r>
            <a:r>
              <a:rPr dirty="0" err="1"/>
              <a:t>MLflow</a:t>
            </a:r>
            <a:r>
              <a:rPr dirty="0"/>
              <a:t> </a:t>
            </a:r>
            <a:r>
              <a:rPr dirty="0" err="1"/>
              <a:t>fortaleció</a:t>
            </a:r>
            <a:r>
              <a:rPr dirty="0"/>
              <a:t> la </a:t>
            </a:r>
            <a:r>
              <a:rPr dirty="0" err="1"/>
              <a:t>trazabilidad</a:t>
            </a:r>
            <a:r>
              <a:rPr dirty="0"/>
              <a:t> y la </a:t>
            </a:r>
            <a:r>
              <a:rPr dirty="0" err="1"/>
              <a:t>gestión</a:t>
            </a:r>
            <a:r>
              <a:rPr dirty="0"/>
              <a:t> integral de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artefactos</a:t>
            </a:r>
            <a:r>
              <a:rPr dirty="0"/>
              <a:t>.</a:t>
            </a:r>
          </a:p>
          <a:p>
            <a:pPr>
              <a:defRPr sz="1800"/>
            </a:pPr>
            <a:endParaRPr dirty="0"/>
          </a:p>
          <a:p>
            <a:pPr>
              <a:defRPr sz="1800"/>
            </a:pPr>
            <a:r>
              <a:rPr dirty="0"/>
              <a:t>Se </a:t>
            </a:r>
            <a:r>
              <a:rPr dirty="0" err="1"/>
              <a:t>recomienda</a:t>
            </a:r>
            <a:r>
              <a:rPr dirty="0"/>
              <a:t> </a:t>
            </a:r>
            <a:r>
              <a:rPr dirty="0" err="1"/>
              <a:t>profundizar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la </a:t>
            </a:r>
            <a:r>
              <a:rPr dirty="0" err="1"/>
              <a:t>implementación</a:t>
            </a:r>
            <a:r>
              <a:rPr dirty="0"/>
              <a:t> de </a:t>
            </a:r>
            <a:r>
              <a:rPr dirty="0" err="1"/>
              <a:t>pruebas</a:t>
            </a:r>
            <a:r>
              <a:rPr dirty="0"/>
              <a:t> </a:t>
            </a:r>
            <a:r>
              <a:rPr dirty="0" err="1"/>
              <a:t>unitarias</a:t>
            </a:r>
            <a:r>
              <a:rPr dirty="0"/>
              <a:t>, la </a:t>
            </a:r>
            <a:r>
              <a:rPr dirty="0" err="1"/>
              <a:t>validación</a:t>
            </a:r>
            <a:r>
              <a:rPr dirty="0"/>
              <a:t> continua (CI) para </a:t>
            </a:r>
            <a:r>
              <a:rPr dirty="0" err="1"/>
              <a:t>asegurar</a:t>
            </a:r>
            <a:r>
              <a:rPr dirty="0"/>
              <a:t> la </a:t>
            </a:r>
            <a:r>
              <a:rPr dirty="0" err="1"/>
              <a:t>integridad</a:t>
            </a:r>
            <a:r>
              <a:rPr dirty="0"/>
              <a:t> del </a:t>
            </a:r>
            <a:r>
              <a:rPr dirty="0" err="1"/>
              <a:t>código</a:t>
            </a:r>
            <a:r>
              <a:rPr dirty="0"/>
              <a:t> ante </a:t>
            </a:r>
            <a:r>
              <a:rPr dirty="0" err="1"/>
              <a:t>futuras</a:t>
            </a:r>
            <a:r>
              <a:rPr dirty="0"/>
              <a:t> </a:t>
            </a:r>
            <a:r>
              <a:rPr dirty="0" err="1"/>
              <a:t>iteraciones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lla">
  <a:themeElements>
    <a:clrScheme name="Malla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alla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alla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Malla</Template>
  <TotalTime>11</TotalTime>
  <Words>507</Words>
  <Application>Microsoft Office PowerPoint</Application>
  <PresentationFormat>Presentación en pantalla (4:3)</PresentationFormat>
  <Paragraphs>45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Arial</vt:lpstr>
      <vt:lpstr>Calibri</vt:lpstr>
      <vt:lpstr>Century Gothic</vt:lpstr>
      <vt:lpstr>Malla</vt:lpstr>
      <vt:lpstr>Fase 2: Implementación y gestión operativa del pipeline de Machine Learning</vt:lpstr>
      <vt:lpstr>Fase 2: Implementación y gestión operativa del pipeline de Machine Learning</vt:lpstr>
      <vt:lpstr>Asignación de roles y actividades – Fase 2</vt:lpstr>
      <vt:lpstr>Automatización del pipeline de modelado</vt:lpstr>
      <vt:lpstr>Refactorización modular del código</vt:lpstr>
      <vt:lpstr>Estructuración con Cookiecutter</vt:lpstr>
      <vt:lpstr>Seguimiento y gestión de experimentos en W&amp;B</vt:lpstr>
      <vt:lpstr>Conclusiones y recomendaciones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PÉREZ CARRILLO EDUARDO</cp:lastModifiedBy>
  <cp:revision>3</cp:revision>
  <dcterms:created xsi:type="dcterms:W3CDTF">2013-01-27T09:14:16Z</dcterms:created>
  <dcterms:modified xsi:type="dcterms:W3CDTF">2025-11-01T20:24:48Z</dcterms:modified>
  <cp:category/>
</cp:coreProperties>
</file>